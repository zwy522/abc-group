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6" r:id="rId11"/>
    <p:sldId id="264" r:id="rId12"/>
    <p:sldId id="267" r:id="rId13"/>
    <p:sldId id="268" r:id="rId14"/>
    <p:sldId id="269" r:id="rId15"/>
    <p:sldId id="270" r:id="rId16"/>
    <p:sldId id="272" r:id="rId17"/>
    <p:sldId id="273" r:id="rId18"/>
    <p:sldId id="271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图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359683" y="408212"/>
            <a:ext cx="3690030" cy="506187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rgbClr val="02584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正文标题文字区域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9683" y="938890"/>
            <a:ext cx="3285755" cy="38372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343434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正文副标题标题文字区域</a:t>
            </a:r>
            <a:endParaRPr lang="zh-CN" altLang="en-US" dirty="0"/>
          </a:p>
        </p:txBody>
      </p:sp>
      <p:sp>
        <p:nvSpPr>
          <p:cNvPr id="9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837918" y="2402550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02584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endParaRPr lang="zh-CN" altLang="en-US" dirty="0"/>
          </a:p>
        </p:txBody>
      </p:sp>
      <p:sp>
        <p:nvSpPr>
          <p:cNvPr id="10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5837918" y="2821102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</p:txBody>
      </p:sp>
      <p:sp>
        <p:nvSpPr>
          <p:cNvPr id="11" name="文本占位符 15"/>
          <p:cNvSpPr>
            <a:spLocks noGrp="1"/>
          </p:cNvSpPr>
          <p:nvPr>
            <p:ph type="body" sz="quarter" idx="15" hasCustomPrompt="1"/>
          </p:nvPr>
        </p:nvSpPr>
        <p:spPr>
          <a:xfrm>
            <a:off x="5837918" y="4214417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02584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endParaRPr lang="zh-CN" altLang="en-US" dirty="0"/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37918" y="4632969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</p:txBody>
      </p:sp>
      <p:sp>
        <p:nvSpPr>
          <p:cNvPr id="14" name="图表占位符 13"/>
          <p:cNvSpPr>
            <a:spLocks noGrp="1"/>
          </p:cNvSpPr>
          <p:nvPr>
            <p:ph type="chart" sz="quarter" idx="17"/>
          </p:nvPr>
        </p:nvSpPr>
        <p:spPr>
          <a:xfrm>
            <a:off x="359683" y="1938338"/>
            <a:ext cx="5033055" cy="389409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10931237" y="6658281"/>
            <a:ext cx="1105592" cy="199719"/>
          </a:xfrm>
        </p:spPr>
        <p:txBody>
          <a:bodyPr>
            <a:normAutofit/>
          </a:bodyPr>
          <a:lstStyle>
            <a:lvl1pPr marL="0" indent="0">
              <a:buNone/>
              <a:defRPr sz="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371465" y="4862195"/>
            <a:ext cx="14484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HPCA 2026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095" y="1855470"/>
            <a:ext cx="8640000" cy="22930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742055" y="864870"/>
            <a:ext cx="4707255" cy="5128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Ⅰ  Introduction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Ⅱ  Backgroud and Motivation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Ⅲ  Methodology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Ⅳ  Results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Ⅴ  Conclusions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0" y="2537460"/>
            <a:ext cx="6096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Ⅰ  Introduction</a:t>
            </a:r>
            <a:endParaRPr lang="en-US" altLang="zh-CN" sz="4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13080" y="408305"/>
            <a:ext cx="71450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005744"/>
                </a:solidFill>
                <a:latin typeface="微软雅黑" panose="020B0503020204020204" charset="-122"/>
                <a:ea typeface="微软雅黑" panose="020B0503020204020204" charset="-122"/>
              </a:rPr>
              <a:t>Research Background &amp; Core Problem</a:t>
            </a:r>
            <a:endParaRPr lang="en-US" altLang="zh-CN" sz="2800" b="1" dirty="0">
              <a:solidFill>
                <a:srgbClr val="0057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25188" y="915477"/>
            <a:ext cx="360000" cy="46800"/>
          </a:xfrm>
          <a:prstGeom prst="rect">
            <a:avLst/>
          </a:prstGeom>
          <a:solidFill>
            <a:srgbClr val="005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8945" y="3578860"/>
            <a:ext cx="4269706" cy="252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5475" y="1271905"/>
            <a:ext cx="1050861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LLM parameter explosion (Llama3-405B, DeepSeek-R1) → CPU memory cannot fit full models →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storage offloading to SSD is mandatory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Fatal bottleneck: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SSD is 100× slower than DRAM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→ offloading increases inference latency by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8–35×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, making deployment impractical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Limitation of existing solutions: Pure software decompression is too slow → compression benefits are completely offset by decompression overhead → only 1.2× speedup at best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3578860"/>
            <a:ext cx="4347000" cy="25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11095" y="2537460"/>
            <a:ext cx="7369175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Ⅱ  </a:t>
            </a:r>
            <a:r>
              <a:rPr lang="en-US" altLang="zh-CN"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Backgroud and Motivation</a:t>
            </a:r>
            <a:endParaRPr lang="en-US" altLang="zh-CN" sz="4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13080" y="408305"/>
            <a:ext cx="106197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005744"/>
                </a:solidFill>
                <a:latin typeface="微软雅黑" panose="020B0503020204020204" charset="-122"/>
                <a:ea typeface="微软雅黑" panose="020B0503020204020204" charset="-122"/>
              </a:rPr>
              <a:t>Key Insight: BF16 Parameters Are Naturally Compressibl</a:t>
            </a:r>
            <a:r>
              <a:rPr lang="en-US" altLang="zh-CN" sz="2800" b="1" dirty="0">
                <a:solidFill>
                  <a:srgbClr val="005744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endParaRPr lang="en-US" altLang="zh-CN" sz="2800" b="1" dirty="0">
              <a:solidFill>
                <a:srgbClr val="0057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25188" y="915477"/>
            <a:ext cx="360000" cy="46800"/>
          </a:xfrm>
          <a:prstGeom prst="rect">
            <a:avLst/>
          </a:prstGeom>
          <a:solidFill>
            <a:srgbClr val="005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25475" y="1270000"/>
            <a:ext cx="5471160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Dominant LLM parameter format: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BF16 (Brain Float 16)</a:t>
            </a:r>
            <a:endParaRPr lang="en-US" altLang="zh-CN" sz="1600" b="1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Structure: 1 sign bit + 8 exponent bits + 7 mantissa bits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Split into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Upper Byte (UB)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and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Lower Byte (LB)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Core observation from the paper: 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UB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: Highly concentrated distribution (99% of values are identical) →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extremely low entropy, highly compressible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LB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: Almost uniform distribution → no compression gain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Result: Compressing only UB achieves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33% lossless compression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with zero accuracy loss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985" y="1629410"/>
            <a:ext cx="5490647" cy="36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13080" y="408305"/>
            <a:ext cx="10607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005744"/>
                </a:solidFill>
                <a:latin typeface="微软雅黑" panose="020B0503020204020204" charset="-122"/>
                <a:ea typeface="微软雅黑" panose="020B0503020204020204" charset="-122"/>
              </a:rPr>
              <a:t>Intel On-Chip Accelerators (Hardware Foundation)</a:t>
            </a:r>
            <a:endParaRPr lang="en-US" altLang="zh-CN" sz="2800" b="1" dirty="0">
              <a:solidFill>
                <a:srgbClr val="0057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25188" y="915477"/>
            <a:ext cx="360000" cy="46800"/>
          </a:xfrm>
          <a:prstGeom prst="rect">
            <a:avLst/>
          </a:prstGeom>
          <a:solidFill>
            <a:srgbClr val="005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25475" y="1263015"/>
            <a:ext cx="5470525" cy="45231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Three independent, physically isolated accelerators on 6th Gen Intel Xeon (Granite Rapids):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IAA (In-memory Analytics Accelerator)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: Dedicated hardware for Deflate compression/decompression → 32 parallel decompression engines per socket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AVX-512 (Advanced Vector Extensions)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: 512-bit vector execution units inside CPU cores → optimized for byte-level operations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AMX (Advanced Matrix Extensions)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: Dedicated matrix multiplication units → accelerates LLM inference compute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Critical property: All three accelerators operate independently with no resource contention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185" y="1809115"/>
            <a:ext cx="5416875" cy="324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13080" y="408305"/>
            <a:ext cx="106064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005744"/>
                </a:solidFill>
                <a:latin typeface="微软雅黑" panose="020B0503020204020204" charset="-122"/>
                <a:ea typeface="微软雅黑" panose="020B0503020204020204" charset="-122"/>
              </a:rPr>
              <a:t>Motivation &amp; Limitations of Existing Work</a:t>
            </a:r>
            <a:endParaRPr lang="en-US" altLang="zh-CN" sz="2800" b="1" dirty="0">
              <a:solidFill>
                <a:srgbClr val="0057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25188" y="915477"/>
            <a:ext cx="360000" cy="46800"/>
          </a:xfrm>
          <a:prstGeom prst="rect">
            <a:avLst/>
          </a:prstGeom>
          <a:solidFill>
            <a:srgbClr val="005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13080" y="1263650"/>
            <a:ext cx="10606405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Three critical limitations of existing compressed inference on CPUs: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Pure CPU decompression is too slow → compression benefits are offset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Decompression, reconstruction, and compute run sequentially → low hardware utilization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Generic compression is inefficient for MoE models → 97% of parameters are rarely accessed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LILO's goal: Orchestrate these three accelerators into a parallel pipeline to eliminate decompression overhead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11095" y="2537460"/>
            <a:ext cx="7369175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Ⅲ  Methodology</a:t>
            </a:r>
            <a:endParaRPr lang="en-US" altLang="zh-CN" sz="4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13080" y="408305"/>
            <a:ext cx="71450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005744"/>
                </a:solidFill>
                <a:latin typeface="微软雅黑" panose="020B0503020204020204" charset="-122"/>
                <a:ea typeface="微软雅黑" panose="020B0503020204020204" charset="-122"/>
              </a:rPr>
              <a:t>LIL</a:t>
            </a:r>
            <a:r>
              <a:rPr lang="en-US" altLang="zh-CN" sz="2800" b="1" dirty="0">
                <a:solidFill>
                  <a:srgbClr val="005744"/>
                </a:solidFill>
                <a:latin typeface="微软雅黑" panose="020B0503020204020204" charset="-122"/>
                <a:ea typeface="微软雅黑" panose="020B0503020204020204" charset="-122"/>
              </a:rPr>
              <a:t>o Overall Architecture</a:t>
            </a:r>
            <a:endParaRPr lang="en-US" altLang="zh-CN" sz="2800" b="1" dirty="0">
              <a:solidFill>
                <a:srgbClr val="0057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25188" y="915477"/>
            <a:ext cx="360000" cy="46800"/>
          </a:xfrm>
          <a:prstGeom prst="rect">
            <a:avLst/>
          </a:prstGeom>
          <a:solidFill>
            <a:srgbClr val="005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25475" y="1276350"/>
            <a:ext cx="10521315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Offline Model Compression (one-time)</a:t>
            </a:r>
            <a:endParaRPr lang="en-US" altLang="zh-CN" sz="1600" b="1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2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Byte-grouping: Separate all UBs and LBs into two contiguous arrays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2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Selective compression: Compress only UB group with Deflate; leave LB group uncompressed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Online Inference (runtime)</a:t>
            </a:r>
            <a:endParaRPr lang="en-US" altLang="zh-CN" sz="1600" b="1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2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IAA decompresses UB chunks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2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AVX reconstructs full BF16 values from UB and LB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2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AMX runs LLM inference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Key optimizations: 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2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Pipelined IAA-AVX decompression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2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Sublayer-level decompression-compute overlap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2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Selective compression for MoE models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2507615"/>
            <a:ext cx="10800000" cy="3081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13080" y="408305"/>
            <a:ext cx="10633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005744"/>
                </a:solidFill>
                <a:latin typeface="微软雅黑" panose="020B0503020204020204" charset="-122"/>
                <a:ea typeface="微软雅黑" panose="020B0503020204020204" charset="-122"/>
              </a:rPr>
              <a:t>Innovation 1: Pipelined IAA-AVX Decompression</a:t>
            </a:r>
            <a:endParaRPr lang="en-US" altLang="zh-CN" sz="2800" b="1" dirty="0">
              <a:solidFill>
                <a:srgbClr val="0057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25188" y="915477"/>
            <a:ext cx="360000" cy="46800"/>
          </a:xfrm>
          <a:prstGeom prst="rect">
            <a:avLst/>
          </a:prstGeom>
          <a:solidFill>
            <a:srgbClr val="005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13080" y="1275080"/>
            <a:ext cx="5582920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Task partitioning: Split UB into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1MB chunks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→ 32 chunks per pipeline stage (fully utilizes 32 IAA engines)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Pipeline execution: 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Time t: IAA decompresses chunk i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Time t+1: IAA decompresses chunk i+1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while 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AVX reconstructs chunk i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Lock-free synchronization: Single atomic integer atomic_idx for inter-thread communication → zero synchronization overhead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Result: Decompression throughput increases from 16GB/s (CPU) to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153GB/s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(9.3× speedup)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6670" y="1372235"/>
            <a:ext cx="5105586" cy="396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13080" y="408305"/>
            <a:ext cx="1167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005744"/>
                </a:solidFill>
                <a:latin typeface="微软雅黑" panose="020B0503020204020204" charset="-122"/>
                <a:ea typeface="微软雅黑" panose="020B0503020204020204" charset="-122"/>
              </a:rPr>
              <a:t>Innovation 2: Sublayer-Level Decompression-Compute Overlap</a:t>
            </a:r>
            <a:endParaRPr lang="en-US" altLang="zh-CN" sz="2800" b="1" dirty="0">
              <a:solidFill>
                <a:srgbClr val="0057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25188" y="915477"/>
            <a:ext cx="360000" cy="46800"/>
          </a:xfrm>
          <a:prstGeom prst="rect">
            <a:avLst/>
          </a:prstGeom>
          <a:solidFill>
            <a:srgbClr val="005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475" y="2168525"/>
            <a:ext cx="6163944" cy="252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5475" y="1276985"/>
            <a:ext cx="5080000" cy="4892675"/>
          </a:xfrm>
          <a:prstGeom prst="rect">
            <a:avLst/>
          </a:prstGeom>
        </p:spPr>
        <p:txBody>
          <a:bodyPr>
            <a:spAutoFit/>
          </a:bodyPr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Core separation: Physically partition 128 CPU cores into three dedicated groups: 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64 cores: AMX inference compute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63 cores: AVX BF16 reconstruction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1 core: IAA daemon thread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Sublayer-level overlap: 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While AMX computes sublayer i, IAA+AVX decompress sublayer i+1 in the background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Advantages over layer-level overlap: 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2× smaller buffer size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Reduced last-level cache contention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Decompression overhead is almost completely hidden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13080" y="408305"/>
            <a:ext cx="1167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005744"/>
                </a:solidFill>
                <a:latin typeface="微软雅黑" panose="020B0503020204020204" charset="-122"/>
                <a:ea typeface="微软雅黑" panose="020B0503020204020204" charset="-122"/>
              </a:rPr>
              <a:t>Innovation 3: Selective Compression for MoE Models</a:t>
            </a:r>
            <a:endParaRPr lang="en-US" altLang="zh-CN" sz="2800" b="1" dirty="0">
              <a:solidFill>
                <a:srgbClr val="0057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25188" y="915477"/>
            <a:ext cx="360000" cy="46800"/>
          </a:xfrm>
          <a:prstGeom prst="rect">
            <a:avLst/>
          </a:prstGeom>
          <a:solidFill>
            <a:srgbClr val="005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5475" y="1266825"/>
            <a:ext cx="5470525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MoE parameter characteristics: 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Shared parameters (3% of total)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: Used for every input → always accessed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Routed parameters (97% of total)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: Only a small subset is activated per input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Selective compression strategy: 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Compress only routed parameters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Leave shared parameters uncompressed in memory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Result: 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Decompression workload reduced by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1.9×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Compression ratio almost unchanged (67.5% → 68.3%)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7790" y="1724025"/>
            <a:ext cx="5078512" cy="324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11095" y="2537460"/>
            <a:ext cx="7369175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Ⅳ  Results</a:t>
            </a:r>
            <a:endParaRPr lang="en-US" altLang="zh-CN" sz="4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13080" y="408305"/>
            <a:ext cx="1167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005744"/>
                </a:solidFill>
                <a:latin typeface="微软雅黑" panose="020B0503020204020204" charset="-122"/>
                <a:ea typeface="微软雅黑" panose="020B0503020204020204" charset="-122"/>
              </a:rPr>
              <a:t>Core Performance Results</a:t>
            </a:r>
            <a:endParaRPr lang="en-US" altLang="zh-CN" sz="2800" b="1" dirty="0">
              <a:solidFill>
                <a:srgbClr val="0057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25188" y="915477"/>
            <a:ext cx="360000" cy="46800"/>
          </a:xfrm>
          <a:prstGeom prst="rect">
            <a:avLst/>
          </a:prstGeom>
          <a:solidFill>
            <a:srgbClr val="005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13080" y="1270000"/>
            <a:ext cx="10615295" cy="3046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All results compared against uncompressed IPEX baseline (state-of-the-art CPU inference):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Llama3-405B (dense model, 512GB memory)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2.0–4.9× speedup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→ 4.9× at batch size 1 (single-user chat)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DeepSeek-R1 (MoE model, 1TB memory)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3.1–4.3× speedup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→ no storage offloading required, performance stable across all batch sizes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Generalization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2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Qwen3-235B: 1.8–2.6× speedup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2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OPT-175B: 1.9–7.0× speedup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Energy efficiency: 2.1–2.5× improvement</a:t>
            </a: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 in tokens per joule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655" y="4331970"/>
            <a:ext cx="7764027" cy="198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290" y="2515870"/>
            <a:ext cx="3851813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13080" y="408305"/>
            <a:ext cx="1167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005744"/>
                </a:solidFill>
                <a:latin typeface="微软雅黑" panose="020B0503020204020204" charset="-122"/>
                <a:ea typeface="微软雅黑" panose="020B0503020204020204" charset="-122"/>
              </a:rPr>
              <a:t>Ablation &amp; Sensitivity Studies</a:t>
            </a:r>
            <a:endParaRPr lang="en-US" altLang="zh-CN" sz="2800" b="1" dirty="0">
              <a:solidFill>
                <a:srgbClr val="0057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25188" y="915477"/>
            <a:ext cx="360000" cy="46800"/>
          </a:xfrm>
          <a:prstGeom prst="rect">
            <a:avLst/>
          </a:prstGeom>
          <a:solidFill>
            <a:srgbClr val="005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25475" y="1264285"/>
            <a:ext cx="5470525" cy="45231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500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Ablation study (batch size 1, no offloading):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Sensitivity study: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Optimal chunk size: 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1MB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(balances communication overhead and parallelism)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Optimal core allocation: 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(64, 63, 1)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for AMX, AVX, IAA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24840" y="1783715"/>
          <a:ext cx="547116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720"/>
                <a:gridCol w="1823720"/>
                <a:gridCol w="1823720"/>
              </a:tblGrid>
              <a:tr h="381000"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Configuration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Llama3-405B Speedup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DeepSeek-R1 Speedup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</a:tr>
              <a:tr h="381000"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All optimizations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1.0× (baseline)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1.0× (baseline)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</a:tr>
              <a:tr h="381000"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No decompression-compute overlap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0.9×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0.53×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</a:tr>
              <a:tr h="381000"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No IAA-AVX pipelining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0.77×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0.63×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</a:tr>
              <a:tr h="381000"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No selective compression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-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0.83×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</a:tr>
              <a:tr h="381000"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No IAA/AVX accelerators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0.16×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0.16×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51117" marR="51117" marT="51117" marB="51117" anchor="ctr" anchorCtr="0"/>
                </a:tc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390" y="549910"/>
            <a:ext cx="4320000" cy="248216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390" y="3426460"/>
            <a:ext cx="4320000" cy="26443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11095" y="2537460"/>
            <a:ext cx="7369175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Ⅴ  Conclusions</a:t>
            </a:r>
            <a:endParaRPr lang="en-US" altLang="zh-CN" sz="4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513080" y="408305"/>
            <a:ext cx="1167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005744"/>
                </a:solidFill>
                <a:latin typeface="微软雅黑" panose="020B0503020204020204" charset="-122"/>
                <a:ea typeface="微软雅黑" panose="020B0503020204020204" charset="-122"/>
              </a:rPr>
              <a:t>Summary, Contributions &amp; Future Work</a:t>
            </a:r>
            <a:endParaRPr lang="en-US" altLang="zh-CN" sz="2800" b="1" dirty="0">
              <a:solidFill>
                <a:srgbClr val="0057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25188" y="915477"/>
            <a:ext cx="360000" cy="46800"/>
          </a:xfrm>
          <a:prstGeom prst="rect">
            <a:avLst/>
          </a:prstGeom>
          <a:solidFill>
            <a:srgbClr val="005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25475" y="1273810"/>
            <a:ext cx="10507980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Key Contributions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First framework to orchestrate IAA, AVX, and AMX accelerators for compressed LLM inference on CPUs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Byte-grouped selective compression for BF16 parameters, achieving 33% lossless compression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Pipelined and overlapped execution that hides almost all decompression overhead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Selective compression optimized for MoE models, reducing decompression workload by 1.9×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Future Work</a:t>
            </a:r>
            <a:endParaRPr lang="en-US" altLang="zh-CN" sz="1600" b="1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Dynamic selective compression: Identify and leave hot experts uncompressed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Extend to FP8 format and AMD CPU platforms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600" b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Native integration of storage offloading into IPEX</a:t>
            </a:r>
            <a:endParaRPr lang="en-US" altLang="zh-CN" sz="1600" b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5545</Words>
  <Application>WPS 演示</Application>
  <PresentationFormat>宽屏</PresentationFormat>
  <Paragraphs>174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Times New Roman</vt:lpstr>
      <vt:lpstr>Arial Unicode MS</vt:lpstr>
      <vt:lpstr>Calibri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青玄</cp:lastModifiedBy>
  <cp:revision>186</cp:revision>
  <dcterms:created xsi:type="dcterms:W3CDTF">2019-06-19T02:08:00Z</dcterms:created>
  <dcterms:modified xsi:type="dcterms:W3CDTF">2026-05-20T11:51:43Z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1B2A7F4992144EE996F2FE9C49C377A5_11</vt:lpwstr>
  </property>
</Properties>
</file>